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916A"/>
    <a:srgbClr val="B9D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7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D1704D-E179-43B0-963A-FDD2F2ECCA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CCE925F-F4B2-4E17-8358-C0E91C55E5DA}">
      <dgm:prSet phldrT="[Текст]" custT="1"/>
      <dgm:spPr>
        <a:solidFill>
          <a:srgbClr val="92D050"/>
        </a:solidFill>
      </dgm:spPr>
      <dgm:t>
        <a:bodyPr/>
        <a:lstStyle/>
        <a:p>
          <a:r>
            <a:rPr lang="ru-RU" sz="2800" dirty="0">
              <a:latin typeface="Bahnschrift Condensed" panose="020B0502040204020203" pitchFamily="34" charset="0"/>
            </a:rPr>
            <a:t>Контрольная группа</a:t>
          </a:r>
        </a:p>
      </dgm:t>
    </dgm:pt>
    <dgm:pt modelId="{C70DFBA3-9EC8-4540-92E6-F6C8B17D3BF8}" type="parTrans" cxnId="{3F601A43-AF67-4B0C-9146-2710ED0F75A9}">
      <dgm:prSet/>
      <dgm:spPr/>
      <dgm:t>
        <a:bodyPr/>
        <a:lstStyle/>
        <a:p>
          <a:endParaRPr lang="ru-RU"/>
        </a:p>
      </dgm:t>
    </dgm:pt>
    <dgm:pt modelId="{F8A4088C-3244-4865-B32D-224F719AFDC4}" type="sibTrans" cxnId="{3F601A43-AF67-4B0C-9146-2710ED0F75A9}">
      <dgm:prSet/>
      <dgm:spPr/>
      <dgm:t>
        <a:bodyPr/>
        <a:lstStyle/>
        <a:p>
          <a:endParaRPr lang="ru-RU"/>
        </a:p>
      </dgm:t>
    </dgm:pt>
    <dgm:pt modelId="{68C35388-4A33-4343-B646-4BE1CC0B6841}">
      <dgm:prSet phldrT="[Текст]" custT="1"/>
      <dgm:spPr/>
      <dgm:t>
        <a:bodyPr/>
        <a:lstStyle/>
        <a:p>
          <a:r>
            <a:rPr lang="ru-RU" sz="1800" dirty="0">
              <a:latin typeface="Arial Narrow" panose="020B0606020202030204" pitchFamily="34" charset="0"/>
            </a:rPr>
            <a:t>Содержит медицинские данные 100 детей без нарушения осанки: результаты биохимического анализа крови, время удержания позы и </a:t>
          </a:r>
          <a:r>
            <a:rPr lang="ru-RU" sz="1800" dirty="0" err="1">
              <a:latin typeface="Arial Narrow" panose="020B0606020202030204" pitchFamily="34" charset="0"/>
            </a:rPr>
            <a:t>cтабилографические</a:t>
          </a:r>
          <a:r>
            <a:rPr lang="ru-RU" sz="1800" dirty="0">
              <a:latin typeface="Arial Narrow" panose="020B0606020202030204" pitchFamily="34" charset="0"/>
            </a:rPr>
            <a:t> изменения, результаты ЭНМГ и рентгенографии, степень выраженности ДСТ (18 показателей).</a:t>
          </a:r>
        </a:p>
      </dgm:t>
    </dgm:pt>
    <dgm:pt modelId="{47443799-B8EB-4473-99E4-DB1D45ADBEBE}" type="parTrans" cxnId="{16A7847B-7126-48BC-8597-1CE67B9C63F7}">
      <dgm:prSet/>
      <dgm:spPr/>
      <dgm:t>
        <a:bodyPr/>
        <a:lstStyle/>
        <a:p>
          <a:endParaRPr lang="ru-RU"/>
        </a:p>
      </dgm:t>
    </dgm:pt>
    <dgm:pt modelId="{42A70E21-824B-4244-BCBF-7594B0AC8150}" type="sibTrans" cxnId="{16A7847B-7126-48BC-8597-1CE67B9C63F7}">
      <dgm:prSet/>
      <dgm:spPr/>
      <dgm:t>
        <a:bodyPr/>
        <a:lstStyle/>
        <a:p>
          <a:endParaRPr lang="ru-RU"/>
        </a:p>
      </dgm:t>
    </dgm:pt>
    <dgm:pt modelId="{705BD206-AE9C-481C-AF06-672B8EDD41D8}">
      <dgm:prSet phldrT="[Текст]" custT="1"/>
      <dgm:spPr>
        <a:solidFill>
          <a:srgbClr val="B9D6F9"/>
        </a:solidFill>
      </dgm:spPr>
      <dgm:t>
        <a:bodyPr/>
        <a:lstStyle/>
        <a:p>
          <a:r>
            <a:rPr lang="ru-RU" sz="2800" dirty="0">
              <a:latin typeface="Bahnschrift Condensed" panose="020B0502040204020203" pitchFamily="34" charset="0"/>
            </a:rPr>
            <a:t>Основная группа</a:t>
          </a:r>
        </a:p>
      </dgm:t>
    </dgm:pt>
    <dgm:pt modelId="{26788A54-8D7C-431F-85EC-DABA9A01F836}" type="parTrans" cxnId="{1CDD1439-C94F-4B23-B165-CD6D57C8953D}">
      <dgm:prSet/>
      <dgm:spPr/>
      <dgm:t>
        <a:bodyPr/>
        <a:lstStyle/>
        <a:p>
          <a:endParaRPr lang="ru-RU"/>
        </a:p>
      </dgm:t>
    </dgm:pt>
    <dgm:pt modelId="{2EA43F41-9339-4437-8928-2E6D411429A2}" type="sibTrans" cxnId="{1CDD1439-C94F-4B23-B165-CD6D57C8953D}">
      <dgm:prSet/>
      <dgm:spPr/>
      <dgm:t>
        <a:bodyPr/>
        <a:lstStyle/>
        <a:p>
          <a:endParaRPr lang="ru-RU"/>
        </a:p>
      </dgm:t>
    </dgm:pt>
    <dgm:pt modelId="{5DE3C913-503D-4D42-8E99-481258688837}">
      <dgm:prSet phldrT="[Текст]" custT="1"/>
      <dgm:spPr/>
      <dgm:t>
        <a:bodyPr/>
        <a:lstStyle/>
        <a:p>
          <a:r>
            <a:rPr lang="ru-RU" sz="1800" dirty="0">
              <a:latin typeface="Arial Narrow" panose="020B0606020202030204" pitchFamily="34" charset="0"/>
            </a:rPr>
            <a:t>Содержит медицинские данные 100 детей с нарушениями осанки на фоне ДСТ: результаты биохимического анализа крови и степень выраженности ДСТ при постановке диагноза, время удержания позы и </a:t>
          </a:r>
          <a:r>
            <a:rPr lang="ru-RU" sz="1800" dirty="0" err="1">
              <a:latin typeface="Arial Narrow" panose="020B0606020202030204" pitchFamily="34" charset="0"/>
            </a:rPr>
            <a:t>cтабилографические</a:t>
          </a:r>
          <a:r>
            <a:rPr lang="ru-RU" sz="1800" dirty="0">
              <a:latin typeface="Arial Narrow" panose="020B0606020202030204" pitchFamily="34" charset="0"/>
            </a:rPr>
            <a:t> изменения, результаты ЭНМГ и рентгенографии при постановке диагноза, через 3 года и через 7 лет </a:t>
          </a:r>
          <a:r>
            <a:rPr lang="ru-RU" sz="1800" b="1" dirty="0">
              <a:latin typeface="Arial Narrow" panose="020B0606020202030204" pitchFamily="34" charset="0"/>
            </a:rPr>
            <a:t>при проведении комплекса лечебно-профилактических мероприятий, разработанного специалистами АГМУ </a:t>
          </a:r>
          <a:r>
            <a:rPr lang="ru-RU" sz="1800" dirty="0">
              <a:latin typeface="Arial Narrow" panose="020B0606020202030204" pitchFamily="34" charset="0"/>
            </a:rPr>
            <a:t>(43 показателя). </a:t>
          </a:r>
        </a:p>
      </dgm:t>
    </dgm:pt>
    <dgm:pt modelId="{9ACAE1AA-1EAF-4860-8021-198BBD9F8B23}" type="parTrans" cxnId="{3C8685DF-ADF0-46C7-A39C-110AC2106D73}">
      <dgm:prSet/>
      <dgm:spPr/>
      <dgm:t>
        <a:bodyPr/>
        <a:lstStyle/>
        <a:p>
          <a:endParaRPr lang="ru-RU"/>
        </a:p>
      </dgm:t>
    </dgm:pt>
    <dgm:pt modelId="{A61BE7E6-0E00-4859-B951-DB3E032D28BD}" type="sibTrans" cxnId="{3C8685DF-ADF0-46C7-A39C-110AC2106D73}">
      <dgm:prSet/>
      <dgm:spPr/>
      <dgm:t>
        <a:bodyPr/>
        <a:lstStyle/>
        <a:p>
          <a:endParaRPr lang="ru-RU"/>
        </a:p>
      </dgm:t>
    </dgm:pt>
    <dgm:pt modelId="{BA3743E6-B144-4348-8B72-2A2A2E775CAD}">
      <dgm:prSet phldrT="[Текст]" custT="1"/>
      <dgm:spPr>
        <a:solidFill>
          <a:srgbClr val="E8916A"/>
        </a:solidFill>
      </dgm:spPr>
      <dgm:t>
        <a:bodyPr/>
        <a:lstStyle/>
        <a:p>
          <a:r>
            <a:rPr lang="ru-RU" sz="2800" dirty="0">
              <a:latin typeface="Bahnschrift Condensed" panose="020B0502040204020203" pitchFamily="34" charset="0"/>
            </a:rPr>
            <a:t>Группа сравнения</a:t>
          </a:r>
        </a:p>
      </dgm:t>
    </dgm:pt>
    <dgm:pt modelId="{FB38D7F2-A2EF-405E-AF2A-0F192CE0284C}" type="parTrans" cxnId="{48CD747D-80D8-4564-94D2-312F3DB25BF3}">
      <dgm:prSet/>
      <dgm:spPr/>
      <dgm:t>
        <a:bodyPr/>
        <a:lstStyle/>
        <a:p>
          <a:endParaRPr lang="ru-RU"/>
        </a:p>
      </dgm:t>
    </dgm:pt>
    <dgm:pt modelId="{FA2422F6-F2CC-4CED-B4D7-4273111E594F}" type="sibTrans" cxnId="{48CD747D-80D8-4564-94D2-312F3DB25BF3}">
      <dgm:prSet/>
      <dgm:spPr/>
      <dgm:t>
        <a:bodyPr/>
        <a:lstStyle/>
        <a:p>
          <a:endParaRPr lang="ru-RU"/>
        </a:p>
      </dgm:t>
    </dgm:pt>
    <dgm:pt modelId="{5CD5E793-C444-46BF-A522-F16181678883}">
      <dgm:prSet phldrT="[Текст]" custT="1"/>
      <dgm:spPr/>
      <dgm:t>
        <a:bodyPr/>
        <a:lstStyle/>
        <a:p>
          <a:r>
            <a:rPr lang="ru-RU" sz="1800" dirty="0">
              <a:latin typeface="Arial Narrow" panose="020B0606020202030204" pitchFamily="34" charset="0"/>
            </a:rPr>
            <a:t>Содержит медицинские данные 100 детей с нарушениями осанки на фоне ДСТ: результаты биохимического анализа крови и степень выраженности ДСТ при постановке диагноза, время удержания позы и </a:t>
          </a:r>
          <a:r>
            <a:rPr lang="ru-RU" sz="1800" dirty="0" err="1">
              <a:latin typeface="Arial Narrow" panose="020B0606020202030204" pitchFamily="34" charset="0"/>
            </a:rPr>
            <a:t>cтабилографические</a:t>
          </a:r>
          <a:r>
            <a:rPr lang="ru-RU" sz="1800" dirty="0">
              <a:latin typeface="Arial Narrow" panose="020B0606020202030204" pitchFamily="34" charset="0"/>
            </a:rPr>
            <a:t> изменения, результаты ЭНМГ и рентгенографии при постановке диагноза, через 3 года и через 7 лет </a:t>
          </a:r>
          <a:r>
            <a:rPr lang="ru-RU" sz="1800" b="1" dirty="0">
              <a:latin typeface="Arial Narrow" panose="020B0606020202030204" pitchFamily="34" charset="0"/>
            </a:rPr>
            <a:t>при проведении лечебно-профилактических</a:t>
          </a:r>
          <a:r>
            <a:rPr lang="en-US" sz="1800" b="1" dirty="0">
              <a:latin typeface="Arial Narrow" panose="020B0606020202030204" pitchFamily="34" charset="0"/>
            </a:rPr>
            <a:t> </a:t>
          </a:r>
          <a:r>
            <a:rPr lang="ru-RU" sz="1800" b="1" dirty="0">
              <a:latin typeface="Arial Narrow" panose="020B0606020202030204" pitchFamily="34" charset="0"/>
            </a:rPr>
            <a:t>мероприятий</a:t>
          </a:r>
          <a:r>
            <a:rPr lang="ru-RU" sz="1800" dirty="0">
              <a:latin typeface="Arial Narrow" panose="020B0606020202030204" pitchFamily="34" charset="0"/>
            </a:rPr>
            <a:t> </a:t>
          </a:r>
          <a:r>
            <a:rPr lang="ru-RU" sz="1800" b="1" dirty="0">
              <a:latin typeface="Arial Narrow" panose="020B0606020202030204" pitchFamily="34" charset="0"/>
            </a:rPr>
            <a:t>по классической схеме </a:t>
          </a:r>
          <a:r>
            <a:rPr lang="ru-RU" sz="1800" dirty="0">
              <a:latin typeface="Arial Narrow" panose="020B0606020202030204" pitchFamily="34" charset="0"/>
            </a:rPr>
            <a:t>(43 показателя). </a:t>
          </a:r>
        </a:p>
      </dgm:t>
    </dgm:pt>
    <dgm:pt modelId="{5F75F4C6-D491-433B-8887-8009E3B9B575}" type="parTrans" cxnId="{A8AB502B-7F00-42BA-8A22-23355EA74D5F}">
      <dgm:prSet/>
      <dgm:spPr/>
      <dgm:t>
        <a:bodyPr/>
        <a:lstStyle/>
        <a:p>
          <a:endParaRPr lang="ru-RU"/>
        </a:p>
      </dgm:t>
    </dgm:pt>
    <dgm:pt modelId="{04B85187-2239-4139-B61D-6412FA904E5F}" type="sibTrans" cxnId="{A8AB502B-7F00-42BA-8A22-23355EA74D5F}">
      <dgm:prSet/>
      <dgm:spPr/>
      <dgm:t>
        <a:bodyPr/>
        <a:lstStyle/>
        <a:p>
          <a:endParaRPr lang="ru-RU"/>
        </a:p>
      </dgm:t>
    </dgm:pt>
    <dgm:pt modelId="{E5463EF0-5482-417F-91C2-6E922B2B56CE}" type="pres">
      <dgm:prSet presAssocID="{30D1704D-E179-43B0-963A-FDD2F2ECCAC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ED939FC-AAE4-4052-8A3C-FA87F532574F}" type="pres">
      <dgm:prSet presAssocID="{ACCE925F-F4B2-4E17-8358-C0E91C55E5DA}" presName="parentText" presStyleLbl="node1" presStyleIdx="0" presStyleCnt="3" custScaleY="51823" custLinFactNeighborX="-23852" custLinFactNeighborY="-247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5C8C8B0-303D-4BF6-9021-71C730DDAA8F}" type="pres">
      <dgm:prSet presAssocID="{ACCE925F-F4B2-4E17-8358-C0E91C55E5DA}" presName="childText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06DEA03-E0E5-44AF-8C74-1DF5310440FF}" type="pres">
      <dgm:prSet presAssocID="{705BD206-AE9C-481C-AF06-672B8EDD41D8}" presName="parentText" presStyleLbl="node1" presStyleIdx="1" presStyleCnt="3" custScaleX="99213" custScaleY="4826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12B431-32F8-4DC2-8756-D898C3211A8D}" type="pres">
      <dgm:prSet presAssocID="{705BD206-AE9C-481C-AF06-672B8EDD41D8}" presName="childText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154F83-6DE3-4812-95C5-28ED415D93C8}" type="pres">
      <dgm:prSet presAssocID="{BA3743E6-B144-4348-8B72-2A2A2E775CAD}" presName="parentText" presStyleLbl="node1" presStyleIdx="2" presStyleCnt="3" custScaleY="52741" custLinFactNeighborX="-11389" custLinFactNeighborY="202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015B94-1057-484D-A352-759167B8CC8E}" type="pres">
      <dgm:prSet presAssocID="{BA3743E6-B144-4348-8B72-2A2A2E775CAD}" presName="childText" presStyleLbl="revTx" presStyleIdx="2" presStyleCnt="3" custScaleY="13403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AACCC16-8E35-417E-A210-CCA5B252B7C5}" type="presOf" srcId="{5DE3C913-503D-4D42-8E99-481258688837}" destId="{5C12B431-32F8-4DC2-8756-D898C3211A8D}" srcOrd="0" destOrd="0" presId="urn:microsoft.com/office/officeart/2005/8/layout/vList2"/>
    <dgm:cxn modelId="{3F601A43-AF67-4B0C-9146-2710ED0F75A9}" srcId="{30D1704D-E179-43B0-963A-FDD2F2ECCAC4}" destId="{ACCE925F-F4B2-4E17-8358-C0E91C55E5DA}" srcOrd="0" destOrd="0" parTransId="{C70DFBA3-9EC8-4540-92E6-F6C8B17D3BF8}" sibTransId="{F8A4088C-3244-4865-B32D-224F719AFDC4}"/>
    <dgm:cxn modelId="{41C77022-4FAE-48AE-BB1F-96E6DB077012}" type="presOf" srcId="{BA3743E6-B144-4348-8B72-2A2A2E775CAD}" destId="{6D154F83-6DE3-4812-95C5-28ED415D93C8}" srcOrd="0" destOrd="0" presId="urn:microsoft.com/office/officeart/2005/8/layout/vList2"/>
    <dgm:cxn modelId="{318D3DBA-A4FE-4FDE-BB25-7EBCB96F9344}" type="presOf" srcId="{ACCE925F-F4B2-4E17-8358-C0E91C55E5DA}" destId="{BED939FC-AAE4-4052-8A3C-FA87F532574F}" srcOrd="0" destOrd="0" presId="urn:microsoft.com/office/officeart/2005/8/layout/vList2"/>
    <dgm:cxn modelId="{1CDD1439-C94F-4B23-B165-CD6D57C8953D}" srcId="{30D1704D-E179-43B0-963A-FDD2F2ECCAC4}" destId="{705BD206-AE9C-481C-AF06-672B8EDD41D8}" srcOrd="1" destOrd="0" parTransId="{26788A54-8D7C-431F-85EC-DABA9A01F836}" sibTransId="{2EA43F41-9339-4437-8928-2E6D411429A2}"/>
    <dgm:cxn modelId="{6841FDD7-45C5-4C33-A01A-8E4DE4BF340A}" type="presOf" srcId="{68C35388-4A33-4343-B646-4BE1CC0B6841}" destId="{25C8C8B0-303D-4BF6-9021-71C730DDAA8F}" srcOrd="0" destOrd="0" presId="urn:microsoft.com/office/officeart/2005/8/layout/vList2"/>
    <dgm:cxn modelId="{0A5E4877-7165-4552-84EC-8097F0913F04}" type="presOf" srcId="{30D1704D-E179-43B0-963A-FDD2F2ECCAC4}" destId="{E5463EF0-5482-417F-91C2-6E922B2B56CE}" srcOrd="0" destOrd="0" presId="urn:microsoft.com/office/officeart/2005/8/layout/vList2"/>
    <dgm:cxn modelId="{16A7847B-7126-48BC-8597-1CE67B9C63F7}" srcId="{ACCE925F-F4B2-4E17-8358-C0E91C55E5DA}" destId="{68C35388-4A33-4343-B646-4BE1CC0B6841}" srcOrd="0" destOrd="0" parTransId="{47443799-B8EB-4473-99E4-DB1D45ADBEBE}" sibTransId="{42A70E21-824B-4244-BCBF-7594B0AC8150}"/>
    <dgm:cxn modelId="{F0BF03E8-08B6-48BA-BFE9-47426A43FA65}" type="presOf" srcId="{5CD5E793-C444-46BF-A522-F16181678883}" destId="{27015B94-1057-484D-A352-759167B8CC8E}" srcOrd="0" destOrd="0" presId="urn:microsoft.com/office/officeart/2005/8/layout/vList2"/>
    <dgm:cxn modelId="{3C8685DF-ADF0-46C7-A39C-110AC2106D73}" srcId="{705BD206-AE9C-481C-AF06-672B8EDD41D8}" destId="{5DE3C913-503D-4D42-8E99-481258688837}" srcOrd="0" destOrd="0" parTransId="{9ACAE1AA-1EAF-4860-8021-198BBD9F8B23}" sibTransId="{A61BE7E6-0E00-4859-B951-DB3E032D28BD}"/>
    <dgm:cxn modelId="{48CD747D-80D8-4564-94D2-312F3DB25BF3}" srcId="{30D1704D-E179-43B0-963A-FDD2F2ECCAC4}" destId="{BA3743E6-B144-4348-8B72-2A2A2E775CAD}" srcOrd="2" destOrd="0" parTransId="{FB38D7F2-A2EF-405E-AF2A-0F192CE0284C}" sibTransId="{FA2422F6-F2CC-4CED-B4D7-4273111E594F}"/>
    <dgm:cxn modelId="{A6902DC8-7DF0-4C0E-93DD-C94ABF2DCD7A}" type="presOf" srcId="{705BD206-AE9C-481C-AF06-672B8EDD41D8}" destId="{406DEA03-E0E5-44AF-8C74-1DF5310440FF}" srcOrd="0" destOrd="0" presId="urn:microsoft.com/office/officeart/2005/8/layout/vList2"/>
    <dgm:cxn modelId="{A8AB502B-7F00-42BA-8A22-23355EA74D5F}" srcId="{BA3743E6-B144-4348-8B72-2A2A2E775CAD}" destId="{5CD5E793-C444-46BF-A522-F16181678883}" srcOrd="0" destOrd="0" parTransId="{5F75F4C6-D491-433B-8887-8009E3B9B575}" sibTransId="{04B85187-2239-4139-B61D-6412FA904E5F}"/>
    <dgm:cxn modelId="{29E3EC12-4642-4BD9-BCC0-60A13B0B6DBE}" type="presParOf" srcId="{E5463EF0-5482-417F-91C2-6E922B2B56CE}" destId="{BED939FC-AAE4-4052-8A3C-FA87F532574F}" srcOrd="0" destOrd="0" presId="urn:microsoft.com/office/officeart/2005/8/layout/vList2"/>
    <dgm:cxn modelId="{524F25DA-7E50-489C-B326-4FBB693F711E}" type="presParOf" srcId="{E5463EF0-5482-417F-91C2-6E922B2B56CE}" destId="{25C8C8B0-303D-4BF6-9021-71C730DDAA8F}" srcOrd="1" destOrd="0" presId="urn:microsoft.com/office/officeart/2005/8/layout/vList2"/>
    <dgm:cxn modelId="{115C3450-B0BD-4F78-A841-F0EDA632DA54}" type="presParOf" srcId="{E5463EF0-5482-417F-91C2-6E922B2B56CE}" destId="{406DEA03-E0E5-44AF-8C74-1DF5310440FF}" srcOrd="2" destOrd="0" presId="urn:microsoft.com/office/officeart/2005/8/layout/vList2"/>
    <dgm:cxn modelId="{300C4C76-B3DE-4AAE-AA6F-66BED2356C1E}" type="presParOf" srcId="{E5463EF0-5482-417F-91C2-6E922B2B56CE}" destId="{5C12B431-32F8-4DC2-8756-D898C3211A8D}" srcOrd="3" destOrd="0" presId="urn:microsoft.com/office/officeart/2005/8/layout/vList2"/>
    <dgm:cxn modelId="{F1DDD744-CF75-4B67-A8DF-BFF1BDC8B398}" type="presParOf" srcId="{E5463EF0-5482-417F-91C2-6E922B2B56CE}" destId="{6D154F83-6DE3-4812-95C5-28ED415D93C8}" srcOrd="4" destOrd="0" presId="urn:microsoft.com/office/officeart/2005/8/layout/vList2"/>
    <dgm:cxn modelId="{6B028742-15F3-48BF-B0AB-7682C7A6A1DB}" type="presParOf" srcId="{E5463EF0-5482-417F-91C2-6E922B2B56CE}" destId="{27015B94-1057-484D-A352-759167B8CC8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939FC-AAE4-4052-8A3C-FA87F532574F}">
      <dsp:nvSpPr>
        <dsp:cNvPr id="0" name=""/>
        <dsp:cNvSpPr/>
      </dsp:nvSpPr>
      <dsp:spPr>
        <a:xfrm>
          <a:off x="0" y="0"/>
          <a:ext cx="8110532" cy="349245"/>
        </a:xfrm>
        <a:prstGeom prst="roundRect">
          <a:avLst/>
        </a:prstGeom>
        <a:solidFill>
          <a:srgbClr val="92D050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>
              <a:latin typeface="Bahnschrift Condensed" panose="020B0502040204020203" pitchFamily="34" charset="0"/>
            </a:rPr>
            <a:t>Контрольная группа</a:t>
          </a:r>
        </a:p>
      </dsp:txBody>
      <dsp:txXfrm>
        <a:off x="17049" y="17049"/>
        <a:ext cx="8076434" cy="315147"/>
      </dsp:txXfrm>
    </dsp:sp>
    <dsp:sp modelId="{25C8C8B0-303D-4BF6-9021-71C730DDAA8F}">
      <dsp:nvSpPr>
        <dsp:cNvPr id="0" name=""/>
        <dsp:cNvSpPr/>
      </dsp:nvSpPr>
      <dsp:spPr>
        <a:xfrm>
          <a:off x="0" y="350364"/>
          <a:ext cx="8110532" cy="1006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50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800" kern="1200" dirty="0">
              <a:latin typeface="Arial Narrow" panose="020B0606020202030204" pitchFamily="34" charset="0"/>
            </a:rPr>
            <a:t>Содержит медицинские данные 100 детей без нарушения осанки: результаты биохимического анализа крови, время удержания позы и </a:t>
          </a:r>
          <a:r>
            <a:rPr lang="ru-RU" sz="1800" kern="1200" dirty="0" err="1">
              <a:latin typeface="Arial Narrow" panose="020B0606020202030204" pitchFamily="34" charset="0"/>
            </a:rPr>
            <a:t>cтабилографические</a:t>
          </a:r>
          <a:r>
            <a:rPr lang="ru-RU" sz="1800" kern="1200" dirty="0">
              <a:latin typeface="Arial Narrow" panose="020B0606020202030204" pitchFamily="34" charset="0"/>
            </a:rPr>
            <a:t> изменения, результаты ЭНМГ и рентгенографии, степень выраженности ДСТ (18 показателей).</a:t>
          </a:r>
        </a:p>
      </dsp:txBody>
      <dsp:txXfrm>
        <a:off x="0" y="350364"/>
        <a:ext cx="8110532" cy="1006020"/>
      </dsp:txXfrm>
    </dsp:sp>
    <dsp:sp modelId="{406DEA03-E0E5-44AF-8C74-1DF5310440FF}">
      <dsp:nvSpPr>
        <dsp:cNvPr id="0" name=""/>
        <dsp:cNvSpPr/>
      </dsp:nvSpPr>
      <dsp:spPr>
        <a:xfrm>
          <a:off x="31914" y="1356384"/>
          <a:ext cx="8046702" cy="325274"/>
        </a:xfrm>
        <a:prstGeom prst="roundRect">
          <a:avLst/>
        </a:prstGeom>
        <a:solidFill>
          <a:srgbClr val="B9D6F9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>
              <a:latin typeface="Bahnschrift Condensed" panose="020B0502040204020203" pitchFamily="34" charset="0"/>
            </a:rPr>
            <a:t>Основная группа</a:t>
          </a:r>
        </a:p>
      </dsp:txBody>
      <dsp:txXfrm>
        <a:off x="47793" y="1372263"/>
        <a:ext cx="8014944" cy="293516"/>
      </dsp:txXfrm>
    </dsp:sp>
    <dsp:sp modelId="{5C12B431-32F8-4DC2-8756-D898C3211A8D}">
      <dsp:nvSpPr>
        <dsp:cNvPr id="0" name=""/>
        <dsp:cNvSpPr/>
      </dsp:nvSpPr>
      <dsp:spPr>
        <a:xfrm>
          <a:off x="0" y="1681659"/>
          <a:ext cx="8110532" cy="149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50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800" kern="1200" dirty="0">
              <a:latin typeface="Arial Narrow" panose="020B0606020202030204" pitchFamily="34" charset="0"/>
            </a:rPr>
            <a:t>Содержит медицинские данные 100 детей с нарушениями осанки на фоне ДСТ: результаты биохимического анализа крови и степень выраженности ДСТ при постановке диагноза, время удержания позы и </a:t>
          </a:r>
          <a:r>
            <a:rPr lang="ru-RU" sz="1800" kern="1200" dirty="0" err="1">
              <a:latin typeface="Arial Narrow" panose="020B0606020202030204" pitchFamily="34" charset="0"/>
            </a:rPr>
            <a:t>cтабилографические</a:t>
          </a:r>
          <a:r>
            <a:rPr lang="ru-RU" sz="1800" kern="1200" dirty="0">
              <a:latin typeface="Arial Narrow" panose="020B0606020202030204" pitchFamily="34" charset="0"/>
            </a:rPr>
            <a:t> изменения, результаты ЭНМГ и рентгенографии при постановке диагноза, через 3 года и через 7 лет </a:t>
          </a:r>
          <a:r>
            <a:rPr lang="ru-RU" sz="1800" b="1" kern="1200" dirty="0">
              <a:latin typeface="Arial Narrow" panose="020B0606020202030204" pitchFamily="34" charset="0"/>
            </a:rPr>
            <a:t>при проведении комплекса лечебно-профилактических мероприятий, разработанного специалистами АГМУ </a:t>
          </a:r>
          <a:r>
            <a:rPr lang="ru-RU" sz="1800" kern="1200" dirty="0">
              <a:latin typeface="Arial Narrow" panose="020B0606020202030204" pitchFamily="34" charset="0"/>
            </a:rPr>
            <a:t>(43 показателя). </a:t>
          </a:r>
        </a:p>
      </dsp:txBody>
      <dsp:txXfrm>
        <a:off x="0" y="1681659"/>
        <a:ext cx="8110532" cy="1490400"/>
      </dsp:txXfrm>
    </dsp:sp>
    <dsp:sp modelId="{6D154F83-6DE3-4812-95C5-28ED415D93C8}">
      <dsp:nvSpPr>
        <dsp:cNvPr id="0" name=""/>
        <dsp:cNvSpPr/>
      </dsp:nvSpPr>
      <dsp:spPr>
        <a:xfrm>
          <a:off x="0" y="3202194"/>
          <a:ext cx="8110532" cy="355432"/>
        </a:xfrm>
        <a:prstGeom prst="roundRect">
          <a:avLst/>
        </a:prstGeom>
        <a:solidFill>
          <a:srgbClr val="E8916A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>
              <a:latin typeface="Bahnschrift Condensed" panose="020B0502040204020203" pitchFamily="34" charset="0"/>
            </a:rPr>
            <a:t>Группа сравнения</a:t>
          </a:r>
        </a:p>
      </dsp:txBody>
      <dsp:txXfrm>
        <a:off x="17351" y="3219545"/>
        <a:ext cx="8075830" cy="320730"/>
      </dsp:txXfrm>
    </dsp:sp>
    <dsp:sp modelId="{27015B94-1057-484D-A352-759167B8CC8E}">
      <dsp:nvSpPr>
        <dsp:cNvPr id="0" name=""/>
        <dsp:cNvSpPr/>
      </dsp:nvSpPr>
      <dsp:spPr>
        <a:xfrm>
          <a:off x="0" y="3527491"/>
          <a:ext cx="8110532" cy="1997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50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800" kern="1200" dirty="0">
              <a:latin typeface="Arial Narrow" panose="020B0606020202030204" pitchFamily="34" charset="0"/>
            </a:rPr>
            <a:t>Содержит медицинские данные 100 детей с нарушениями осанки на фоне ДСТ: результаты биохимического анализа крови и степень выраженности ДСТ при постановке диагноза, время удержания позы и </a:t>
          </a:r>
          <a:r>
            <a:rPr lang="ru-RU" sz="1800" kern="1200" dirty="0" err="1">
              <a:latin typeface="Arial Narrow" panose="020B0606020202030204" pitchFamily="34" charset="0"/>
            </a:rPr>
            <a:t>cтабилографические</a:t>
          </a:r>
          <a:r>
            <a:rPr lang="ru-RU" sz="1800" kern="1200" dirty="0">
              <a:latin typeface="Arial Narrow" panose="020B0606020202030204" pitchFamily="34" charset="0"/>
            </a:rPr>
            <a:t> изменения, результаты ЭНМГ и рентгенографии при постановке диагноза, через 3 года и через 7 лет </a:t>
          </a:r>
          <a:r>
            <a:rPr lang="ru-RU" sz="1800" b="1" kern="1200" dirty="0">
              <a:latin typeface="Arial Narrow" panose="020B0606020202030204" pitchFamily="34" charset="0"/>
            </a:rPr>
            <a:t>при проведении лечебно-профилактических</a:t>
          </a:r>
          <a:r>
            <a:rPr lang="en-US" sz="1800" b="1" kern="1200" dirty="0">
              <a:latin typeface="Arial Narrow" panose="020B0606020202030204" pitchFamily="34" charset="0"/>
            </a:rPr>
            <a:t> </a:t>
          </a:r>
          <a:r>
            <a:rPr lang="ru-RU" sz="1800" b="1" kern="1200" dirty="0">
              <a:latin typeface="Arial Narrow" panose="020B0606020202030204" pitchFamily="34" charset="0"/>
            </a:rPr>
            <a:t>мероприятий</a:t>
          </a:r>
          <a:r>
            <a:rPr lang="ru-RU" sz="1800" kern="1200" dirty="0">
              <a:latin typeface="Arial Narrow" panose="020B0606020202030204" pitchFamily="34" charset="0"/>
            </a:rPr>
            <a:t> </a:t>
          </a:r>
          <a:r>
            <a:rPr lang="ru-RU" sz="1800" b="1" kern="1200" dirty="0">
              <a:latin typeface="Arial Narrow" panose="020B0606020202030204" pitchFamily="34" charset="0"/>
            </a:rPr>
            <a:t>по классической схеме </a:t>
          </a:r>
          <a:r>
            <a:rPr lang="ru-RU" sz="1800" kern="1200" dirty="0">
              <a:latin typeface="Arial Narrow" panose="020B0606020202030204" pitchFamily="34" charset="0"/>
            </a:rPr>
            <a:t>(43 показателя). </a:t>
          </a:r>
        </a:p>
      </dsp:txBody>
      <dsp:txXfrm>
        <a:off x="0" y="3527491"/>
        <a:ext cx="8110532" cy="1997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9430E-8525-4DA4-9ADC-A18BBF9EBB1A}" type="datetimeFigureOut">
              <a:rPr lang="ru-RU" smtClean="0"/>
              <a:t>16.12.2022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2C5A1-91BD-43CA-84B7-544DF3C446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2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C718-C2B0-4363-B579-FE25CD7B7024}" type="datetime1">
              <a:rPr lang="ru-RU" smtClean="0"/>
              <a:t>16.12.2022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16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9B6B-BB94-4C21-AD5E-B89A3ED64DDF}" type="datetime1">
              <a:rPr lang="ru-RU" smtClean="0"/>
              <a:t>16.12.2022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04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86635-BE37-4CE9-BD4D-31B0E07B26AD}" type="datetime1">
              <a:rPr lang="ru-RU" smtClean="0"/>
              <a:t>16.12.2022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82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658FD-A8C3-4AC6-BCA5-DF2CF62AE12B}" type="datetime1">
              <a:rPr lang="ru-RU" smtClean="0"/>
              <a:t>16.12.2022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63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90C8-C2E9-4752-B8F8-09FC09B176C3}" type="datetime1">
              <a:rPr lang="ru-RU" smtClean="0"/>
              <a:t>16.12.2022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63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A09-43D2-4C35-877D-EE34A0E05B82}" type="datetime1">
              <a:rPr lang="ru-RU" smtClean="0"/>
              <a:t>16.12.2022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54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5472-48E0-4E66-97BB-235AA57DC3A2}" type="datetime1">
              <a:rPr lang="ru-RU" smtClean="0"/>
              <a:t>16.12.2022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38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A413-CFF6-44B8-9B77-C602A49C7794}" type="datetime1">
              <a:rPr lang="ru-RU" smtClean="0"/>
              <a:t>16.12.2022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086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402FF-37A6-49E7-A6DF-6470FCC43640}" type="datetime1">
              <a:rPr lang="ru-RU" smtClean="0"/>
              <a:t>16.12.2022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19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662E-424C-451F-ACC0-89CC3026A4E7}" type="datetime1">
              <a:rPr lang="ru-RU" smtClean="0"/>
              <a:t>16.12.2022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7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DC73-3EEE-4D92-9F50-760730692C7B}" type="datetime1">
              <a:rPr lang="ru-RU" smtClean="0"/>
              <a:t>16.12.2022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82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4DAD461-80C3-4DDE-9450-73BA8152E770}" type="datetime1">
              <a:rPr lang="ru-RU" smtClean="0"/>
              <a:t>16.12.2022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90C3ED5-C5C6-4E6A-B531-5E79723061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06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0630" y="808854"/>
            <a:ext cx="9144000" cy="2387600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Bahnschrift Condensed" panose="020B0502040204020203" pitchFamily="34" charset="0"/>
              </a:rPr>
              <a:t>АНАЛИЗ МЕДИЦИНСКИХ ДАННЫХ ДЕТЕЙ И ПОДРОСТКОВ, ИМЕЮЩИХ НАРУШЕНИЯ ОСАНКИ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57600" y="4990010"/>
            <a:ext cx="5434151" cy="764177"/>
          </a:xfrm>
        </p:spPr>
        <p:txBody>
          <a:bodyPr>
            <a:noAutofit/>
          </a:bodyPr>
          <a:lstStyle/>
          <a:p>
            <a:pPr algn="r">
              <a:spcBef>
                <a:spcPts val="600"/>
              </a:spcBef>
            </a:pPr>
            <a:r>
              <a:rPr lang="ru-RU" sz="2000" dirty="0">
                <a:latin typeface="Bahnschrift Condensed" panose="020B0502040204020203" pitchFamily="34" charset="0"/>
              </a:rPr>
              <a:t>Емельянов А. Е., группа 402 </a:t>
            </a:r>
          </a:p>
          <a:p>
            <a:pPr algn="r">
              <a:spcBef>
                <a:spcPts val="600"/>
              </a:spcBef>
            </a:pPr>
            <a:r>
              <a:rPr lang="ru-RU" sz="2000" dirty="0">
                <a:latin typeface="Bahnschrift Condensed" panose="020B0502040204020203" pitchFamily="34" charset="0"/>
              </a:rPr>
              <a:t>Научный руководитель - Кротова О.С.</a:t>
            </a:r>
          </a:p>
          <a:p>
            <a:pPr algn="r">
              <a:spcBef>
                <a:spcPts val="600"/>
              </a:spcBef>
            </a:pPr>
            <a:r>
              <a:rPr lang="ru-RU" sz="2000" dirty="0">
                <a:latin typeface="Bahnschrift Condensed" panose="020B0502040204020203" pitchFamily="34" charset="0"/>
              </a:rPr>
              <a:t>Научный консультант - </a:t>
            </a:r>
            <a:r>
              <a:rPr lang="ru-RU" sz="2000" dirty="0" err="1">
                <a:latin typeface="Bahnschrift Condensed" panose="020B0502040204020203" pitchFamily="34" charset="0"/>
              </a:rPr>
              <a:t>Метальников</a:t>
            </a:r>
            <a:r>
              <a:rPr lang="ru-RU" sz="2000" dirty="0">
                <a:latin typeface="Bahnschrift Condensed" panose="020B0502040204020203" pitchFamily="34" charset="0"/>
              </a:rPr>
              <a:t>  А. И., к.м.н., доцент</a:t>
            </a:r>
          </a:p>
        </p:txBody>
      </p:sp>
    </p:spTree>
    <p:extLst>
      <p:ext uri="{BB962C8B-B14F-4D97-AF65-F5344CB8AC3E}">
        <p14:creationId xmlns:p14="http://schemas.microsoft.com/office/powerpoint/2010/main" val="31737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26423" y="191590"/>
            <a:ext cx="11416937" cy="6529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Bahnschrift Condensed" panose="020B0502040204020203" pitchFamily="34" charset="0"/>
              </a:rPr>
              <a:t>Цель исследования </a:t>
            </a:r>
            <a:r>
              <a:rPr lang="ru-RU" sz="2400" dirty="0">
                <a:latin typeface="Bahnschrift Condensed" panose="020B0502040204020203" pitchFamily="34" charset="0"/>
              </a:rPr>
              <a:t>– применение методов и алгоритмов анализа данных к набору медицинских данных детей и подростков с нарушениями осанки, возникшими на фоне наследственной дисплазии соединительной ткани, для изучения структуры этих данных и имеющихся в них закономерностей.  </a:t>
            </a:r>
          </a:p>
          <a:p>
            <a:r>
              <a:rPr lang="ru-RU" sz="2400" b="1" dirty="0">
                <a:latin typeface="Bahnschrift Condensed" panose="020B0502040204020203" pitchFamily="34" charset="0"/>
              </a:rPr>
              <a:t>Объект исследования </a:t>
            </a:r>
            <a:r>
              <a:rPr lang="ru-RU" sz="2400" dirty="0">
                <a:latin typeface="Bahnschrift Condensed" panose="020B0502040204020203" pitchFamily="34" charset="0"/>
              </a:rPr>
              <a:t>– методы анализа и обработки данных;</a:t>
            </a:r>
          </a:p>
          <a:p>
            <a:r>
              <a:rPr lang="ru-RU" sz="2400" b="1" dirty="0">
                <a:latin typeface="Bahnschrift Condensed" panose="020B0502040204020203" pitchFamily="34" charset="0"/>
              </a:rPr>
              <a:t>Предмет исследования </a:t>
            </a:r>
            <a:r>
              <a:rPr lang="ru-RU" sz="2400" dirty="0">
                <a:latin typeface="Bahnschrift Condensed" panose="020B0502040204020203" pitchFamily="34" charset="0"/>
              </a:rPr>
              <a:t>– данные детей с нарушениями осанки;</a:t>
            </a:r>
          </a:p>
          <a:p>
            <a:pPr marL="0" indent="0">
              <a:buNone/>
            </a:pPr>
            <a:r>
              <a:rPr lang="ru-RU" sz="2400" b="1" dirty="0">
                <a:latin typeface="Bahnschrift Condensed" panose="020B0502040204020203" pitchFamily="34" charset="0"/>
              </a:rPr>
              <a:t>Актуальность </a:t>
            </a:r>
            <a:r>
              <a:rPr lang="ru-RU" sz="2400" dirty="0">
                <a:latin typeface="Bahnschrift Condensed" panose="020B0502040204020203" pitchFamily="34" charset="0"/>
              </a:rPr>
              <a:t>исследования обусловлена распространенностью нарушений осанки, системностью поражений, вовлечением в патологический процесс многих структур организма. </a:t>
            </a:r>
          </a:p>
          <a:p>
            <a:pPr marL="0" indent="0">
              <a:buNone/>
            </a:pPr>
            <a:r>
              <a:rPr lang="ru-RU" sz="2400" b="1" dirty="0">
                <a:latin typeface="Bahnschrift Condensed" panose="020B0502040204020203" pitchFamily="34" charset="0"/>
              </a:rPr>
              <a:t>Основные задачи:</a:t>
            </a:r>
          </a:p>
          <a:p>
            <a:pPr marL="457200" indent="-457200">
              <a:buAutoNum type="arabicParenR"/>
            </a:pPr>
            <a:r>
              <a:rPr lang="ru-RU" sz="2400" dirty="0">
                <a:latin typeface="Bahnschrift Condensed" panose="020B0502040204020203" pitchFamily="34" charset="0"/>
              </a:rPr>
              <a:t>Изучение методов анализа и обработки данных;</a:t>
            </a:r>
          </a:p>
          <a:p>
            <a:pPr marL="457200" indent="-457200">
              <a:buAutoNum type="arabicParenR"/>
            </a:pPr>
            <a:r>
              <a:rPr lang="ru-RU" sz="2400" dirty="0">
                <a:latin typeface="Bahnschrift Condensed" panose="020B0502040204020203" pitchFamily="34" charset="0"/>
              </a:rPr>
              <a:t>Выявление информативных признаков, позволяющих сделать вывод о наличии или отсутствии заболевания</a:t>
            </a:r>
            <a:r>
              <a:rPr lang="en-US" sz="2400" dirty="0">
                <a:latin typeface="Bahnschrift Condensed" panose="020B0502040204020203" pitchFamily="34" charset="0"/>
              </a:rPr>
              <a:t>; </a:t>
            </a:r>
            <a:endParaRPr lang="ru-RU" sz="2400" dirty="0">
              <a:latin typeface="Bahnschrift Condensed" panose="020B0502040204020203" pitchFamily="34" charset="0"/>
            </a:endParaRPr>
          </a:p>
          <a:p>
            <a:pPr marL="457200" indent="-457200">
              <a:buAutoNum type="arabicParenR"/>
            </a:pPr>
            <a:r>
              <a:rPr lang="ru-RU" sz="2400" dirty="0">
                <a:latin typeface="Bahnschrift Condensed" panose="020B0502040204020203" pitchFamily="34" charset="0"/>
              </a:rPr>
              <a:t>Сравнение эффективности лечебно-профилактических мероприятий через 3 и 7 лет с момента постановки диагноза.</a:t>
            </a:r>
            <a:endParaRPr lang="ru-RU" dirty="0">
              <a:latin typeface="Bahnschrift Condensed" panose="020B0502040204020203" pitchFamily="34" charset="0"/>
            </a:endParaRPr>
          </a:p>
          <a:p>
            <a:pPr marL="457200" indent="-457200">
              <a:buAutoNum type="arabicParenR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z="2400" smtClean="0">
                <a:solidFill>
                  <a:schemeClr val="tx1"/>
                </a:solidFill>
              </a:rPr>
              <a:t>2</a:t>
            </a:fld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91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0" y="766355"/>
            <a:ext cx="3439886" cy="5312228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latin typeface="Bahnschrift Condensed" panose="020B0502040204020203" pitchFamily="34" charset="0"/>
              </a:rPr>
              <a:t>Данные</a:t>
            </a:r>
            <a:br>
              <a:rPr lang="ru-RU" sz="4400" dirty="0">
                <a:latin typeface="Bahnschrift Condensed" panose="020B0502040204020203" pitchFamily="34" charset="0"/>
              </a:rPr>
            </a:br>
            <a:r>
              <a:rPr lang="ru-RU" sz="4400" dirty="0">
                <a:latin typeface="Bahnschrift Condensed" panose="020B0502040204020203" pitchFamily="34" charset="0"/>
              </a:rPr>
              <a:t> для исследования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5967759"/>
              </p:ext>
            </p:extLst>
          </p:nvPr>
        </p:nvGraphicFramePr>
        <p:xfrm>
          <a:off x="3564017" y="1331732"/>
          <a:ext cx="8110532" cy="5526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z="2000" smtClean="0">
                <a:solidFill>
                  <a:schemeClr val="tx1"/>
                </a:solidFill>
              </a:rPr>
              <a:t>3</a:t>
            </a:fld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64017" y="326294"/>
            <a:ext cx="846908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dirty="0">
                <a:latin typeface="Arial Narrow" panose="020B0606020202030204" pitchFamily="34" charset="0"/>
              </a:rPr>
              <a:t>Данные представлены в базе данных «Результаты обследования детей с нарушением осанки на фоне наследственной дисплазии соединительной ткани» (авторы: </a:t>
            </a:r>
            <a:r>
              <a:rPr lang="ru-RU" sz="1700" dirty="0" err="1">
                <a:latin typeface="Arial Narrow" panose="020B0606020202030204" pitchFamily="34" charset="0"/>
              </a:rPr>
              <a:t>Метальников</a:t>
            </a:r>
            <a:r>
              <a:rPr lang="ru-RU" sz="1700" dirty="0">
                <a:latin typeface="Arial Narrow" panose="020B0606020202030204" pitchFamily="34" charset="0"/>
              </a:rPr>
              <a:t> А.И., </a:t>
            </a:r>
            <a:r>
              <a:rPr lang="ru-RU" sz="1700" dirty="0" err="1">
                <a:latin typeface="Arial Narrow" panose="020B0606020202030204" pitchFamily="34" charset="0"/>
              </a:rPr>
              <a:t>Кулишова</a:t>
            </a:r>
            <a:r>
              <a:rPr lang="ru-RU" sz="1700" dirty="0">
                <a:latin typeface="Arial Narrow" panose="020B0606020202030204" pitchFamily="34" charset="0"/>
              </a:rPr>
              <a:t> Т.В., Осипов А.А., Субботин Е.А., Романова Е.В.).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391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400" dirty="0">
                <a:latin typeface="Bahnschrift Condensed" panose="020B0502040204020203" pitchFamily="34" charset="0"/>
              </a:rPr>
              <a:t>Визуализация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z="2000" smtClean="0">
                <a:solidFill>
                  <a:schemeClr val="tx1"/>
                </a:solidFill>
              </a:rPr>
              <a:t>4</a:t>
            </a:fld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142" y="1812492"/>
            <a:ext cx="4457765" cy="3924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53142" y="671513"/>
            <a:ext cx="8290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</a:rPr>
              <a:t>С помощью метода главных компонент (</a:t>
            </a:r>
            <a:r>
              <a:rPr lang="en-US" sz="2000" dirty="0">
                <a:latin typeface="Arial Narrow" panose="020B0606020202030204" pitchFamily="34" charset="0"/>
              </a:rPr>
              <a:t>PCA</a:t>
            </a:r>
            <a:r>
              <a:rPr lang="ru-RU" sz="2000" dirty="0">
                <a:latin typeface="Arial Narrow" panose="020B0606020202030204" pitchFamily="34" charset="0"/>
              </a:rPr>
              <a:t>) понижена размерность исходных данных до 3-х и 2-х измерений и построены графики, отражающий структуру набора данных.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4319" y="5938754"/>
            <a:ext cx="72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Bahnschrift Light" panose="020B0502040204020203" pitchFamily="34" charset="0"/>
              </a:rPr>
              <a:t>			а)		</a:t>
            </a:r>
            <a:r>
              <a:rPr lang="en-US" sz="1100" dirty="0">
                <a:latin typeface="Bahnschrift Light" panose="020B0502040204020203" pitchFamily="34" charset="0"/>
              </a:rPr>
              <a:t>	</a:t>
            </a:r>
            <a:r>
              <a:rPr lang="ru-RU" sz="1100" dirty="0">
                <a:latin typeface="Bahnschrift Light" panose="020B0502040204020203" pitchFamily="34" charset="0"/>
              </a:rPr>
              <a:t>						</a:t>
            </a:r>
            <a:r>
              <a:rPr lang="en-US" sz="1100" dirty="0">
                <a:latin typeface="Bahnschrift Light" panose="020B0502040204020203" pitchFamily="34" charset="0"/>
              </a:rPr>
              <a:t>b</a:t>
            </a:r>
            <a:r>
              <a:rPr lang="ru-RU" sz="1100" dirty="0">
                <a:latin typeface="Bahnschrift Light" panose="020B0502040204020203" pitchFamily="34" charset="0"/>
              </a:rPr>
              <a:t>)</a:t>
            </a:r>
          </a:p>
          <a:p>
            <a:r>
              <a:rPr lang="ru-RU" sz="1100" dirty="0">
                <a:latin typeface="Bahnschrift Light" panose="020B0502040204020203" pitchFamily="34" charset="0"/>
              </a:rPr>
              <a:t>Рисунок 1. Визуализация данных: красные точки – наблюдения с диагнозом, синие точки – без диагноза;</a:t>
            </a:r>
          </a:p>
          <a:p>
            <a:pPr marL="228600" indent="-228600">
              <a:buAutoNum type="alphaLcParenR"/>
            </a:pPr>
            <a:r>
              <a:rPr lang="en-US" sz="1100" dirty="0">
                <a:latin typeface="Bahnschrift Light" panose="020B0502040204020203" pitchFamily="34" charset="0"/>
              </a:rPr>
              <a:t>– </a:t>
            </a:r>
            <a:r>
              <a:rPr lang="ru-RU" sz="1100" dirty="0">
                <a:latin typeface="Bahnschrift Light" panose="020B0502040204020203" pitchFamily="34" charset="0"/>
              </a:rPr>
              <a:t>результат сокращения размерности до 3-х компонент</a:t>
            </a:r>
            <a:r>
              <a:rPr lang="en-US" sz="1100" dirty="0">
                <a:latin typeface="Bahnschrift Light" panose="020B0502040204020203" pitchFamily="34" charset="0"/>
              </a:rPr>
              <a:t>;</a:t>
            </a:r>
            <a:endParaRPr lang="ru-RU" sz="1100" dirty="0">
              <a:latin typeface="Bahnschrift Light" panose="020B0502040204020203" pitchFamily="34" charset="0"/>
            </a:endParaRPr>
          </a:p>
          <a:p>
            <a:pPr marL="228600" indent="-228600">
              <a:buAutoNum type="alphaLcParenR"/>
            </a:pPr>
            <a:r>
              <a:rPr lang="ru-RU" sz="1100" dirty="0">
                <a:latin typeface="Bahnschrift Light" panose="020B0502040204020203" pitchFamily="34" charset="0"/>
              </a:rPr>
              <a:t>- результат сокращения размерности до 2-х компонент</a:t>
            </a:r>
            <a:r>
              <a:rPr lang="en-US" sz="1100" dirty="0">
                <a:latin typeface="Bahnschrift Light" panose="020B0502040204020203" pitchFamily="34" charset="0"/>
              </a:rPr>
              <a:t>.</a:t>
            </a:r>
            <a:r>
              <a:rPr lang="ru-RU" sz="1100" dirty="0">
                <a:latin typeface="Bahnschrift Light" panose="020B0502040204020203" pitchFamily="34" charset="0"/>
              </a:rPr>
              <a:t>  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947" y="2048799"/>
            <a:ext cx="3736988" cy="359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24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757647"/>
            <a:ext cx="3444238" cy="5320936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latin typeface="Bahnschrift Condensed" panose="020B0502040204020203" pitchFamily="34" charset="0"/>
              </a:rPr>
              <a:t>Определение информативных признаков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38288" y="-84579"/>
            <a:ext cx="7916093" cy="12085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Arial Narrow" panose="020B0606020202030204" pitchFamily="34" charset="0"/>
              </a:rPr>
              <a:t>Для определения наиболее информативных признаков и наличия связей между признаками использовались диаграммы размаха, взаимная информация, корреляционный анализ.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z="2000" smtClean="0">
                <a:solidFill>
                  <a:schemeClr val="tx1"/>
                </a:solidFill>
              </a:rPr>
              <a:t>5</a:t>
            </a:fld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046" y="3771953"/>
            <a:ext cx="3623096" cy="25448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38288" y="1164360"/>
            <a:ext cx="40524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 Narrow" panose="020B0606020202030204" pitchFamily="34" charset="0"/>
              </a:rPr>
              <a:t>Наиболее информативными признаками являются:</a:t>
            </a:r>
          </a:p>
          <a:p>
            <a:r>
              <a:rPr lang="ru-RU" dirty="0">
                <a:latin typeface="Arial Narrow" panose="020B0606020202030204" pitchFamily="34" charset="0"/>
              </a:rPr>
              <a:t>1) </a:t>
            </a:r>
            <a:r>
              <a:rPr lang="ru-RU" dirty="0" err="1">
                <a:latin typeface="Arial Narrow" panose="020B0606020202030204" pitchFamily="34" charset="0"/>
              </a:rPr>
              <a:t>Оксипролин</a:t>
            </a:r>
            <a:r>
              <a:rPr lang="ru-RU" dirty="0">
                <a:latin typeface="Arial Narrow" panose="020B0606020202030204" pitchFamily="34" charset="0"/>
              </a:rPr>
              <a:t> сыворотки крови (</a:t>
            </a:r>
            <a:r>
              <a:rPr lang="ru-RU" dirty="0" err="1">
                <a:latin typeface="Arial Narrow" panose="020B0606020202030204" pitchFamily="34" charset="0"/>
              </a:rPr>
              <a:t>мкмоль</a:t>
            </a:r>
            <a:r>
              <a:rPr lang="ru-RU" dirty="0">
                <a:latin typeface="Arial Narrow" panose="020B0606020202030204" pitchFamily="34" charset="0"/>
              </a:rPr>
              <a:t>/л)</a:t>
            </a:r>
          </a:p>
          <a:p>
            <a:r>
              <a:rPr lang="ru-RU" dirty="0">
                <a:latin typeface="Arial Narrow" panose="020B0606020202030204" pitchFamily="34" charset="0"/>
              </a:rPr>
              <a:t>2) Экскреция </a:t>
            </a:r>
            <a:r>
              <a:rPr lang="ru-RU" dirty="0" err="1">
                <a:latin typeface="Arial Narrow" panose="020B0606020202030204" pitchFamily="34" charset="0"/>
              </a:rPr>
              <a:t>оксипролина</a:t>
            </a:r>
            <a:r>
              <a:rPr lang="ru-RU" dirty="0">
                <a:latin typeface="Arial Narrow" panose="020B0606020202030204" pitchFamily="34" charset="0"/>
              </a:rPr>
              <a:t> (мкм/мг </a:t>
            </a:r>
            <a:r>
              <a:rPr lang="ru-RU" dirty="0" err="1">
                <a:latin typeface="Arial Narrow" panose="020B0606020202030204" pitchFamily="34" charset="0"/>
              </a:rPr>
              <a:t>креатинина</a:t>
            </a:r>
            <a:r>
              <a:rPr lang="ru-RU" dirty="0">
                <a:latin typeface="Arial Narrow" panose="020B0606020202030204" pitchFamily="34" charset="0"/>
              </a:rPr>
              <a:t>)</a:t>
            </a:r>
          </a:p>
          <a:p>
            <a:r>
              <a:rPr lang="ru-RU" dirty="0">
                <a:latin typeface="Arial Narrow" panose="020B0606020202030204" pitchFamily="34" charset="0"/>
              </a:rPr>
              <a:t>3) Время удержания позы (мин.)</a:t>
            </a:r>
          </a:p>
          <a:p>
            <a:r>
              <a:rPr lang="ru-RU" dirty="0">
                <a:latin typeface="Arial Narrow" panose="020B0606020202030204" pitchFamily="34" charset="0"/>
              </a:rPr>
              <a:t>4) Величина кифоза в градусах в грудном отделе позвоночника</a:t>
            </a:r>
          </a:p>
          <a:p>
            <a:r>
              <a:rPr lang="ru-RU" dirty="0">
                <a:latin typeface="Arial Narrow" panose="020B0606020202030204" pitchFamily="34" charset="0"/>
              </a:rPr>
              <a:t>5) Экскреция кальция (</a:t>
            </a:r>
            <a:r>
              <a:rPr lang="ru-RU" dirty="0" err="1">
                <a:latin typeface="Arial Narrow" panose="020B0606020202030204" pitchFamily="34" charset="0"/>
              </a:rPr>
              <a:t>мМ</a:t>
            </a:r>
            <a:r>
              <a:rPr lang="ru-RU" dirty="0">
                <a:latin typeface="Arial Narrow" panose="020B0606020202030204" pitchFamily="34" charset="0"/>
              </a:rPr>
              <a:t>/сутки)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9468" y="6259810"/>
            <a:ext cx="33033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Bahnschrift Light" panose="020B0502040204020203" pitchFamily="34" charset="0"/>
              </a:rPr>
              <a:t>Рисунок 3. Диаграмма размаха для признака «Время удержания позы (мин.)»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6336" y="6249449"/>
            <a:ext cx="3937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Bahnschrift Light" panose="020B0502040204020203" pitchFamily="34" charset="0"/>
              </a:rPr>
              <a:t>Рисунок 4. Диаграмма размаха для признака «</a:t>
            </a:r>
            <a:r>
              <a:rPr lang="ru-RU" sz="1100" dirty="0" err="1">
                <a:latin typeface="Bahnschrift Light" panose="020B0502040204020203" pitchFamily="34" charset="0"/>
              </a:rPr>
              <a:t>Оксипролин</a:t>
            </a:r>
            <a:r>
              <a:rPr lang="ru-RU" sz="1100" dirty="0">
                <a:latin typeface="Bahnschrift Light" panose="020B0502040204020203" pitchFamily="34" charset="0"/>
              </a:rPr>
              <a:t> сыворотки крови (</a:t>
            </a:r>
            <a:r>
              <a:rPr lang="ru-RU" sz="1100" dirty="0" err="1">
                <a:latin typeface="Bahnschrift Light" panose="020B0502040204020203" pitchFamily="34" charset="0"/>
              </a:rPr>
              <a:t>мкмоль</a:t>
            </a:r>
            <a:r>
              <a:rPr lang="en-US" sz="1100" dirty="0">
                <a:latin typeface="Bahnschrift Light" panose="020B0502040204020203" pitchFamily="34" charset="0"/>
              </a:rPr>
              <a:t>/</a:t>
            </a:r>
            <a:r>
              <a:rPr lang="ru-RU" sz="1100" dirty="0">
                <a:latin typeface="Bahnschrift Light" panose="020B0502040204020203" pitchFamily="34" charset="0"/>
              </a:rPr>
              <a:t>л)»</a:t>
            </a:r>
          </a:p>
          <a:p>
            <a:endParaRPr lang="ru-RU" sz="14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708" y="3746843"/>
            <a:ext cx="3676868" cy="25129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40669" y="3400745"/>
            <a:ext cx="3937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Bahnschrift Light" panose="020B0502040204020203" pitchFamily="34" charset="0"/>
              </a:rPr>
              <a:t>Рисунок 2. Оценка информативности признаков с помощью взаимной информации</a:t>
            </a:r>
          </a:p>
          <a:p>
            <a:endParaRPr lang="ru-RU" sz="1400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705" y="874605"/>
            <a:ext cx="3630437" cy="252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23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-156384" y="757646"/>
            <a:ext cx="3692434" cy="533835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Bahnschrift Condensed" panose="020B0502040204020203" pitchFamily="34" charset="0"/>
              </a:rPr>
              <a:t>Сравнение эффективности лечебно-профилактических мероприятий</a:t>
            </a:r>
            <a:br>
              <a:rPr lang="ru-RU" sz="4000" dirty="0">
                <a:latin typeface="Bahnschrift Condensed" panose="020B0502040204020203" pitchFamily="34" charset="0"/>
              </a:rPr>
            </a:br>
            <a:r>
              <a:rPr lang="ru-RU" sz="4000" dirty="0">
                <a:latin typeface="Bahnschrift Condensed" panose="020B0502040204020203" pitchFamily="34" charset="0"/>
              </a:rPr>
              <a:t> (через 3 года)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z="2000" smtClean="0">
                <a:solidFill>
                  <a:schemeClr val="tx1"/>
                </a:solidFill>
              </a:rPr>
              <a:t>6</a:t>
            </a:fld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2050" name="Picture 2" descr="https://sun4-17.userapi.com/impg/5kbtLTDjsEfPr9eQXUgQHLgLVfqHOZQGjMamCw/lWfFFXRHCKE.jpg?size=1000x863&amp;quality=96&amp;sign=aaf75ec7fd27ccabeeabfa197d74cc83&amp;type=alb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"/>
          <a:stretch/>
        </p:blipFill>
        <p:spPr bwMode="auto">
          <a:xfrm>
            <a:off x="3744685" y="0"/>
            <a:ext cx="7794171" cy="654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143391" y="6558330"/>
            <a:ext cx="106166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Bahnschrift Light" panose="020B0502040204020203" pitchFamily="34" charset="0"/>
              </a:rPr>
              <a:t>Рисунок 5. Значения признаков через 3 года после постановки диагноза при проведении лечебно-профилактических мероприятий  </a:t>
            </a:r>
          </a:p>
        </p:txBody>
      </p:sp>
    </p:spTree>
    <p:extLst>
      <p:ext uri="{BB962C8B-B14F-4D97-AF65-F5344CB8AC3E}">
        <p14:creationId xmlns:p14="http://schemas.microsoft.com/office/powerpoint/2010/main" val="1495351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0" y="809897"/>
            <a:ext cx="3431177" cy="527739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Bahnschrift Condensed" panose="020B0502040204020203" pitchFamily="34" charset="0"/>
              </a:rPr>
              <a:t>Сравнение эффективности лечебно-профилактических мероприятий (через 7 лет)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z="2000" smtClean="0">
                <a:solidFill>
                  <a:schemeClr val="tx1"/>
                </a:solidFill>
              </a:rPr>
              <a:t>7</a:t>
            </a:fld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3074" name="Picture 2" descr="https://sun4-16.userapi.com/impg/wVQBxjRfMRQQg69YhRlFwHGpYhtKW2A7d8Nl0A/LWK49S_mpQQ.jpg?size=996x860&amp;quality=96&amp;sign=4a74bdd9f218329dcbdfa10ae56f259b&amp;type=alb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7"/>
          <a:stretch/>
        </p:blipFill>
        <p:spPr bwMode="auto">
          <a:xfrm>
            <a:off x="3701142" y="0"/>
            <a:ext cx="7866877" cy="669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143391" y="6558330"/>
            <a:ext cx="106166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Bahnschrift Light" panose="020B0502040204020203" pitchFamily="34" charset="0"/>
              </a:rPr>
              <a:t>Рисунок 6. Значения признаков через 7 лет после постановки диагноза при проведении лечебно-профилактических мероприятий  </a:t>
            </a:r>
          </a:p>
        </p:txBody>
      </p:sp>
    </p:spTree>
    <p:extLst>
      <p:ext uri="{BB962C8B-B14F-4D97-AF65-F5344CB8AC3E}">
        <p14:creationId xmlns:p14="http://schemas.microsoft.com/office/powerpoint/2010/main" val="1469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latin typeface="Bahnschrift Condensed" pitchFamily="34" charset="0"/>
              </a:rPr>
              <a:t>Заключение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ED5-C5C6-4E6A-B531-5E79723061AC}" type="slidenum">
              <a:rPr lang="ru-RU" sz="2000" smtClean="0">
                <a:solidFill>
                  <a:schemeClr val="tx1"/>
                </a:solidFill>
              </a:rPr>
              <a:t>8</a:t>
            </a:fld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29616" y="1204111"/>
            <a:ext cx="764112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itchFamily="34" charset="0"/>
              </a:rPr>
              <a:t>Таким образом, в результате исследования: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Bahnschrift Condensed" pitchFamily="34" charset="0"/>
              </a:rPr>
              <a:t>Изучены методов анализа и обработки данных;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Bahnschrift Condensed" pitchFamily="34" charset="0"/>
              </a:rPr>
              <a:t>Выявлены информативные признаки, позволяющих сделать вывод о наличии или отсутствии заболевания;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Bahnschrift Condensed" pitchFamily="34" charset="0"/>
              </a:rPr>
              <a:t>Проведено сравнение эффективности лечебно-профилактических мероприятий через 3 и 7 лет с момента постановки диагноза.</a:t>
            </a:r>
          </a:p>
          <a:p>
            <a:endParaRPr lang="ru-RU" sz="2400" dirty="0">
              <a:latin typeface="Bahnschrift Condensed" pitchFamily="34" charset="0"/>
            </a:endParaRPr>
          </a:p>
          <a:p>
            <a:r>
              <a:rPr lang="ru-RU" sz="2400" dirty="0">
                <a:latin typeface="Bahnschrift Condensed" pitchFamily="34" charset="0"/>
              </a:rPr>
              <a:t>Результаты проведенного исследования станут основой для модели прогнозирования состояния здоровья детей с нарушением осанки после проведения комплекса лечебно-профилактических мероприятий.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272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28259" y="2609442"/>
            <a:ext cx="6485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Condensed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057618983"/>
      </p:ext>
    </p:extLst>
  </p:cSld>
  <p:clrMapOvr>
    <a:masterClrMapping/>
  </p:clrMapOvr>
</p:sld>
</file>

<file path=ppt/theme/theme1.xml><?xml version="1.0" encoding="utf-8"?>
<a:theme xmlns:a="http://schemas.openxmlformats.org/drawingml/2006/main" name="Рамка">
  <a:themeElements>
    <a:clrScheme name="Рамка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Рамка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Рамка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39D77354-939E-4A26-AE51-B3F9618B14B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TM03457475[[fn=Рамка]]</Template>
  <TotalTime>5654</TotalTime>
  <Words>655</Words>
  <Application>Microsoft Office PowerPoint</Application>
  <PresentationFormat>Широкоэкранный</PresentationFormat>
  <Paragraphs>56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 Narrow</vt:lpstr>
      <vt:lpstr>Bahnschrift Condensed</vt:lpstr>
      <vt:lpstr>Bahnschrift Light</vt:lpstr>
      <vt:lpstr>Calibri</vt:lpstr>
      <vt:lpstr>Corbel</vt:lpstr>
      <vt:lpstr>Wingdings 2</vt:lpstr>
      <vt:lpstr>Рамка</vt:lpstr>
      <vt:lpstr>АНАЛИЗ МЕДИЦИНСКИХ ДАННЫХ ДЕТЕЙ И ПОДРОСТКОВ, ИМЕЮЩИХ НАРУШЕНИЯ ОСАНКИ</vt:lpstr>
      <vt:lpstr>Презентация PowerPoint</vt:lpstr>
      <vt:lpstr>Данные  для исследования</vt:lpstr>
      <vt:lpstr>Визуализация данных</vt:lpstr>
      <vt:lpstr>Определение информативных признаков</vt:lpstr>
      <vt:lpstr>Сравнение эффективности лечебно-профилактических мероприятий  (через 3 года)</vt:lpstr>
      <vt:lpstr>Сравнение эффективности лечебно-профилактических мероприятий (через 7 лет)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МЕДИЦИНСКИХ ДАННЫХ ДЕТЕЙ И ПОДРОСТКОВ, ИМЕЮЩИХ НАРУШЕНИЯ ОСАНКИ</dc:title>
  <dc:creator>Antisleep</dc:creator>
  <cp:lastModifiedBy>Antisleep</cp:lastModifiedBy>
  <cp:revision>24</cp:revision>
  <dcterms:created xsi:type="dcterms:W3CDTF">2022-10-28T06:33:06Z</dcterms:created>
  <dcterms:modified xsi:type="dcterms:W3CDTF">2022-12-16T07:51:09Z</dcterms:modified>
</cp:coreProperties>
</file>